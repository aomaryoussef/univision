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914400" y="-914400"/>
            <a:ext cx="4572000" cy="8686800"/>
          </a:xfrm>
          <a:prstGeom prst="roundRect">
            <a:avLst/>
          </a:prstGeom>
          <a:solidFill>
            <a:srgbClr val="0C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0800" cy="6858000"/>
          </a:xfrm>
          <a:prstGeom prst="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3716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D4A830"/>
                </a:solidFill>
                <a:latin typeface="Calibri"/>
              </a:defRPr>
            </a:pPr>
            <a:r>
              <a:t>UniVision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3774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Student Portal 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3200400"/>
            <a:ext cx="2743200" cy="38100"/>
          </a:xfrm>
          <a:prstGeom prst="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0" y="34747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8"/>
                </a:solidFill>
                <a:latin typeface="Calibri"/>
              </a:defRPr>
            </a:pPr>
            <a:r>
              <a:t>A comprehensive university portal for students, doctors, and administrators.</a:t>
            </a:r>
            <a:br/>
            <a:r>
              <a:t>Built with modern web technologies and an elegant dark theme.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1828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C44A"/>
                </a:solidFill>
                <a:latin typeface="Calibri"/>
              </a:defRPr>
            </a:pPr>
            <a:r>
              <a:t>  Real-time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377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C44A"/>
                </a:solidFill>
                <a:latin typeface="Calibri"/>
              </a:defRPr>
            </a:pPr>
            <a:r>
              <a:t>  Performance Tracking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2926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C44A"/>
                </a:solidFill>
                <a:latin typeface="Calibri"/>
              </a:defRPr>
            </a:pPr>
            <a:r>
              <a:t>  Smart Alerts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474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C44A"/>
                </a:solidFill>
                <a:latin typeface="Calibri"/>
              </a:defRPr>
            </a:pPr>
            <a:r>
              <a:t>  Role-based Access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8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8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8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7A94"/>
                </a:solidFill>
                <a:latin typeface="Calibri"/>
              </a:defRPr>
            </a:pPr>
            <a:r>
              <a:t>What is UniVision?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8"/>
                </a:solidFill>
                <a:latin typeface="Calibri"/>
              </a:defRPr>
            </a:pPr>
            <a:r>
              <a:t>UniVision is a full-stack university student portal that provides real-time academic tracking,</a:t>
            </a:r>
            <a:br/>
            <a:r>
              <a:t>performance analytics, and multi-role management for students, doctors, and administrators.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00400"/>
            <a:ext cx="3291840" cy="274320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Students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7947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View grades &amp; attendance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0690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Track GPA progress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3434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Performance 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46177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Smart alerts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89120" y="3200400"/>
            <a:ext cx="3291840" cy="274320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4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Doctors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37947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Manage student records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40690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Send feedback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3440" y="43434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Grade &amp; attendance entry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63440" y="46177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Course management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046720" y="3200400"/>
            <a:ext cx="3291840" cy="274320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2104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Administrators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40" y="37947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Full system oversight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21040" y="40690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Admin-to-doctor feedback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21040" y="43434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Student management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21040" y="46177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Role-based control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4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5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5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500"/>
                                  <p:tgtEl>
                                    <p:spTgt spid="5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presetID="10" presetClass="entr" presetSubtype="0" fill="hold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8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500"/>
                                  <p:tgtEl>
                                    <p:spTgt spid="6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presetID="10" presetClass="entr" presetSubtype="0" fill="hold" nodeType="withEffect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500"/>
                                  <p:tgtEl>
                                    <p:spTgt spid="7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10" presetClass="entr" presetSubtype="0" fill="hold" nodeType="withEffect">
                            <p:stCondLst>
                              <p:cond delay="17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7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presetID="10" presetClass="entr" presetSubtype="0" fill="hold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2" dur="500"/>
                                  <p:tgtEl>
                                    <p:spTgt spid="7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presetID="10" presetClass="entr" presetSubtype="0" fill="hold" nodeType="withEffect">
                            <p:stCondLst>
                              <p:cond delay="190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500"/>
                                  <p:tgtEl>
                                    <p:spTgt spid="8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presetID="10" presetClass="entr" presetSubtype="0" fill="hold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500"/>
                                  <p:tgtEl>
                                    <p:spTgt spid="6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7A94"/>
                </a:solidFill>
                <a:latin typeface="Calibri"/>
              </a:defRPr>
            </a:pPr>
            <a:r>
              <a:t>Modern tools for a modern portal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286000"/>
            <a:ext cx="3291840" cy="320040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803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HTML5 / CSS3 / Vanilla 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1546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Chart.js for data visualization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4290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Font Awesome icons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7033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CSS animations &amp; transitions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89120" y="2286000"/>
            <a:ext cx="3291840" cy="320040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4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28803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Node.js + Express.js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31546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RESTful API architecture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34290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JWT Authentication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3440" y="37033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Role-based middleware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046720" y="2286000"/>
            <a:ext cx="3291840" cy="320040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2104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21040" y="28803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SQLite (better-sqlite3)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40" y="31546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Relational schema design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21040" y="34290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Seed scripts for demo data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21040" y="37033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12 interconnected tables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5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5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4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6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presetID="10" presetClass="entr" presetSubtype="0" fill="hold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500"/>
                                  <p:tgtEl>
                                    <p:spTgt spid="6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500"/>
                                  <p:tgtEl>
                                    <p:spTgt spid="7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10" presetClass="entr" presetSubtype="0" fill="hold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7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presetID="10" presetClass="entr" presetSubtype="0" fill="hold" nodeType="withEffect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2" dur="500"/>
                                  <p:tgtEl>
                                    <p:spTgt spid="7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500"/>
                                  <p:tgtEl>
                                    <p:spTgt spid="6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Calibri"/>
              </a:defRPr>
            </a:pPr>
            <a:r>
              <a:t>Design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7A94"/>
                </a:solidFill>
                <a:latin typeface="Calibri"/>
              </a:defRPr>
            </a:pPr>
            <a:r>
              <a:t>Navy + Gold palette inspired by the university logo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103120"/>
            <a:ext cx="1463040" cy="914400"/>
          </a:xfrm>
          <a:prstGeom prst="roundRect">
            <a:avLst/>
          </a:prstGeom>
          <a:solidFill>
            <a:srgbClr val="09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108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C4D8"/>
                </a:solidFill>
                <a:latin typeface="Calibri"/>
              </a:defRPr>
            </a:pPr>
            <a:r>
              <a:t>Primary BG</a:t>
            </a:r>
            <a:br/>
            <a:r>
              <a:t>#091428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0" y="2103120"/>
            <a:ext cx="1463040" cy="914400"/>
          </a:xfrm>
          <a:prstGeom prst="round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3108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C4D8"/>
                </a:solidFill>
                <a:latin typeface="Calibri"/>
              </a:defRPr>
            </a:pPr>
            <a:r>
              <a:t>Card BG</a:t>
            </a:r>
            <a:br/>
            <a:r>
              <a:t>#0F1F3D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2103120"/>
            <a:ext cx="1463040" cy="914400"/>
          </a:xfrm>
          <a:prstGeom prst="round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3108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C4D8"/>
                </a:solidFill>
                <a:latin typeface="Calibri"/>
              </a:defRPr>
            </a:pPr>
            <a:r>
              <a:t>Gold Accent</a:t>
            </a:r>
            <a:br/>
            <a:r>
              <a:t>#D4A830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2103120"/>
            <a:ext cx="1463040" cy="91440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3108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C4D8"/>
                </a:solidFill>
                <a:latin typeface="Calibri"/>
              </a:defRPr>
            </a:pPr>
            <a:r>
              <a:t>Success</a:t>
            </a:r>
            <a:br/>
            <a:r>
              <a:t>#5EEAD4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20" y="2103120"/>
            <a:ext cx="1463040" cy="91440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6720" y="3108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C4D8"/>
                </a:solidFill>
                <a:latin typeface="Calibri"/>
              </a:defRPr>
            </a:pPr>
            <a:r>
              <a:t>Danger</a:t>
            </a:r>
            <a:br/>
            <a:r>
              <a:t>#F87171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875520" y="2103120"/>
            <a:ext cx="1463040" cy="91440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75520" y="3108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C4D8"/>
                </a:solidFill>
                <a:latin typeface="Calibri"/>
              </a:defRPr>
            </a:pPr>
            <a:r>
              <a:t>Info</a:t>
            </a:r>
            <a:br/>
            <a:r>
              <a:t>#60A5FA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3931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8"/>
                </a:solidFill>
                <a:latin typeface="Calibri"/>
              </a:defRPr>
            </a:pPr>
            <a:r>
              <a:t>  Dark theme with lighter card backgrounds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297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8"/>
                </a:solidFill>
                <a:latin typeface="Calibri"/>
              </a:defRPr>
            </a:pPr>
            <a:r>
              <a:t>  Consistent border-radius (16px / 10px)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" y="4663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8"/>
                </a:solidFill>
                <a:latin typeface="Calibri"/>
              </a:defRPr>
            </a:pPr>
            <a:r>
              <a:t>  Animated page transitions (fadeUp, stagger, scaleIn)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1520" y="5029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8"/>
                </a:solidFill>
                <a:latin typeface="Calibri"/>
              </a:defRPr>
            </a:pPr>
            <a:r>
              <a:t>  Responsive grid layouts for all screen sizes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" y="5394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8"/>
                </a:solidFill>
                <a:latin typeface="Calibri"/>
              </a:defRPr>
            </a:pPr>
            <a:r>
              <a:t>  Hover glow effects on cards and buttons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55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85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5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nodeType="withEffect">
                            <p:stCondLst>
                              <p:cond delay="115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5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500"/>
                                  <p:tgtEl>
                                    <p:spTgt spid="5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6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presetID="10" presetClass="entr" presetSubtype="0" fill="hold" nodeType="withEffect">
                            <p:stCondLst>
                              <p:cond delay="135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500"/>
                                  <p:tgtEl>
                                    <p:spTgt spid="6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presetID="10" presetClass="entr" presetSubtype="0" fill="hold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500"/>
                                  <p:tgtEl>
                                    <p:spTgt spid="7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10" presetClass="entr" presetSubtype="0" fill="hold" nodeType="withEffect">
                            <p:stCondLst>
                              <p:cond delay="165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7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presetID="10" presetClass="entr" presetSubtype="0" fill="hold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2" dur="500"/>
                                  <p:tgtEl>
                                    <p:spTgt spid="7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Calibri"/>
              </a:defRPr>
            </a:pPr>
            <a:r>
              <a:t>Authentication &amp; Role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7A94"/>
                </a:solidFill>
                <a:latin typeface="Calibri"/>
              </a:defRPr>
            </a:pPr>
            <a:r>
              <a:t>Secure JWT-based login with 3 distinct roles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6974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View personal academic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9718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Track grades, attendance, GPA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2461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Performance comparison with peers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5204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Receive feedback from doctors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37947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Smart performance alerts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4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Doctor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26974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Manage assigned students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29718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Enter grades &amp; attendance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3440" y="32461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Send feedback to students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63440" y="35204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View admin messages in context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37947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Schedule management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046720" y="2103120"/>
            <a:ext cx="3291840" cy="411480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2104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21040" y="26974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Full system access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21040" y="29718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Send feedback to doctors or students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21040" y="32461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Manage all student records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21040" y="35204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Administrative oversight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321040" y="37947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Choose feedback recipient (Send To)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4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5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5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500"/>
                                  <p:tgtEl>
                                    <p:spTgt spid="5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6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5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presetID="10" presetClass="entr" presetSubtype="0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2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500"/>
                                  <p:tgtEl>
                                    <p:spTgt spid="7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10" presetClass="entr" presetSubtype="0" fill="hold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7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2" dur="500"/>
                                  <p:tgtEl>
                                    <p:spTgt spid="7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presetID="10" presetClass="entr" presetSubtype="0" fill="hold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500"/>
                                  <p:tgtEl>
                                    <p:spTgt spid="8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presetID="10" presetClass="entr" presetSubtype="0" fill="hold" nodeType="withEffect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500"/>
                                  <p:tgtEl>
                                    <p:spTgt spid="8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presetID="10" presetClass="entr" presetSubtype="0" fill="hold" nodeType="withEffect">
                            <p:stCondLst>
                              <p:cond delay="1700"/>
                            </p:stCondLst>
                            <p:childTnLst>
                              <p:set>
                                <p:cBhvr>
                                  <p:cTn id="9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4" dur="500"/>
                                  <p:tgtEl>
                                    <p:spTgt spid="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9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8" dur="500"/>
                                  <p:tgtEl>
                                    <p:spTgt spid="7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Calibri"/>
              </a:defRPr>
            </a:pPr>
            <a:r>
              <a:t>Student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7A94"/>
                </a:solidFill>
                <a:latin typeface="Calibri"/>
              </a:defRPr>
            </a:pPr>
            <a:r>
              <a:t>Home page — at-a-glance academic overview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011680"/>
            <a:ext cx="5029200" cy="91440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121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30"/>
                </a:solidFill>
                <a:latin typeface="Calibri"/>
              </a:defRPr>
            </a:pPr>
            <a:r>
              <a:t>Stat Cards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450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Cumulative GPA, attendance %, classes attended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011680"/>
            <a:ext cx="5029200" cy="91440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121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30"/>
                </a:solidFill>
                <a:latin typeface="Calibri"/>
              </a:defRPr>
            </a:pPr>
            <a:r>
              <a:t>GPA Progress Chart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450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Line chart tracking GPA across all semesters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108960"/>
            <a:ext cx="5029200" cy="91440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32186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30"/>
                </a:solidFill>
                <a:latin typeface="Calibri"/>
              </a:defRPr>
            </a:pPr>
            <a:r>
              <a:t>Attendance Doughnut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35478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Visual breakdown of attended vs absent classes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3108960"/>
            <a:ext cx="5029200" cy="91440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2240" y="32186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30"/>
                </a:solidFill>
                <a:latin typeface="Calibri"/>
              </a:defRPr>
            </a:pPr>
            <a:r>
              <a:t>Top Achievers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35478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Leaderboard of top 5 students in same grade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4206240"/>
            <a:ext cx="5029200" cy="91440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5840" y="43159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30"/>
                </a:solidFill>
                <a:latin typeface="Calibri"/>
              </a:defRPr>
            </a:pPr>
            <a:r>
              <a:t>GPA History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5840" y="46451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Bar-style semester-by-semester GPA rows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217920" y="4206240"/>
            <a:ext cx="5029200" cy="91440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92240" y="43159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30"/>
                </a:solidFill>
                <a:latin typeface="Calibri"/>
              </a:defRPr>
            </a:pPr>
            <a:r>
              <a:t>Performance Alerts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92240" y="46451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Smart warnings for GPA drops, low attendance, flagged courses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31520" y="5303520"/>
            <a:ext cx="5029200" cy="91440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05840" y="54132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30"/>
                </a:solidFill>
                <a:latin typeface="Calibri"/>
              </a:defRPr>
            </a:pPr>
            <a:r>
              <a:t>Quick Access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5840" y="5742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Navigation cards to all portal sections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217920" y="5303520"/>
            <a:ext cx="5029200" cy="91440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92240" y="54132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30"/>
                </a:solidFill>
                <a:latin typeface="Calibri"/>
              </a:defRPr>
            </a:pPr>
            <a:r>
              <a:t>University Resources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492240" y="5742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External links to e-learning, portal, student affairs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5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75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5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85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5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500"/>
                                  <p:tgtEl>
                                    <p:spTgt spid="5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6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500"/>
                                  <p:tgtEl>
                                    <p:spTgt spid="6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presetID="10" presetClass="entr" presetSubtype="0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500"/>
                                  <p:tgtEl>
                                    <p:spTgt spid="7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10" presetClass="entr" presetSubtype="0" fill="hold" nodeType="withEffect">
                            <p:stCondLst>
                              <p:cond delay="115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7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presetID="10" presetClass="entr" presetSubtype="0" fill="hold" nodeType="withEffect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2" dur="500"/>
                                  <p:tgtEl>
                                    <p:spTgt spid="7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presetID="10" presetClass="entr" presetSubtype="0" fill="hold" nodeType="withEffect">
                            <p:stCondLst>
                              <p:cond delay="135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500"/>
                                  <p:tgtEl>
                                    <p:spTgt spid="8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presetID="10" presetClass="entr" presetSubtype="0" fill="hold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500"/>
                                  <p:tgtEl>
                                    <p:spTgt spid="8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9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4" dur="500"/>
                                  <p:tgtEl>
                                    <p:spTgt spid="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presetID="10" presetClass="entr" presetSubtype="0" fill="hold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9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8" dur="500"/>
                                  <p:tgtEl>
                                    <p:spTgt spid="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presetID="10" presetClass="entr" presetSubtype="0" fill="hold" nodeType="withEffect">
                            <p:stCondLst>
                              <p:cond delay="145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500"/>
                                  <p:tgtEl>
                                    <p:spTgt spid="9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presetID="10" presetClass="entr" presetSubtype="0" fill="hold" nodeType="withEffect">
                            <p:stCondLst>
                              <p:cond delay="1550"/>
                            </p:stCondLst>
                            <p:childTnLst>
                              <p:set>
                                <p:cBhvr>
                                  <p:cTn id="1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6" dur="500"/>
                                  <p:tgtEl>
                                    <p:spTgt spid="10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presetID="10" presetClass="entr" presetSubtype="0" fill="hold" nodeType="withEffect">
                            <p:stCondLst>
                              <p:cond delay="1650"/>
                            </p:stCondLst>
                            <p:childTnLst>
                              <p:set>
                                <p:cBhvr>
                                  <p:cTn id="1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0" dur="500"/>
                                  <p:tgtEl>
                                    <p:spTgt spid="10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Calibri"/>
              </a:defRPr>
            </a:pPr>
            <a:r>
              <a:t>Smart Performance Alerts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7A94"/>
                </a:solidFill>
                <a:latin typeface="Calibri"/>
              </a:defRPr>
            </a:pPr>
            <a:r>
              <a:t>Proactive notifications when performance drops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011680"/>
            <a:ext cx="1097280" cy="32004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91428"/>
                </a:solidFill>
              </a:defRPr>
            </a:pPr>
            <a:r>
              <a:t>DANGER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011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0"/>
                </a:solidFill>
                <a:latin typeface="Calibri"/>
              </a:defRPr>
            </a:pPr>
            <a:r>
              <a:t>Significant GPA Drop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22860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7A94"/>
                </a:solidFill>
                <a:latin typeface="Calibri"/>
              </a:defRPr>
            </a:pPr>
            <a:r>
              <a:t>GPA dropped &gt;= 0.5 between semesters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011680"/>
            <a:ext cx="109728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91428"/>
                </a:solidFill>
              </a:defRPr>
            </a:pPr>
            <a:r>
              <a:t>WARNING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2011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0"/>
                </a:solidFill>
                <a:latin typeface="Calibri"/>
              </a:defRPr>
            </a:pPr>
            <a:r>
              <a:t>GPA Slightly Decreased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0" y="22860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7A94"/>
                </a:solidFill>
                <a:latin typeface="Calibri"/>
              </a:defRPr>
            </a:pPr>
            <a:r>
              <a:t>Any GPA decline between semesters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063240"/>
            <a:ext cx="1097280" cy="32004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91428"/>
                </a:solidFill>
              </a:defRPr>
            </a:pPr>
            <a:r>
              <a:t>DANGER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30632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0"/>
                </a:solidFill>
                <a:latin typeface="Calibri"/>
              </a:defRPr>
            </a:pPr>
            <a:r>
              <a:t>Academic Probation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11680" y="33375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7A94"/>
                </a:solidFill>
                <a:latin typeface="Calibri"/>
              </a:defRPr>
            </a:pPr>
            <a:r>
              <a:t>Cumulative GPA falls below 2.0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3063240"/>
            <a:ext cx="109728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91428"/>
                </a:solidFill>
              </a:defRPr>
            </a:pPr>
            <a:r>
              <a:t>WARNING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80" y="30632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0"/>
                </a:solidFill>
                <a:latin typeface="Calibri"/>
              </a:defRPr>
            </a:pPr>
            <a:r>
              <a:t>Low Attendance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80" y="33375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7A94"/>
                </a:solidFill>
                <a:latin typeface="Calibri"/>
              </a:defRPr>
            </a:pPr>
            <a:r>
              <a:t>Overall attendance below 75%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4114800"/>
            <a:ext cx="1097280" cy="32004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91428"/>
                </a:solidFill>
              </a:defRPr>
            </a:pPr>
            <a:r>
              <a:t>DANGER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11680" y="41148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0"/>
                </a:solidFill>
                <a:latin typeface="Calibri"/>
              </a:defRPr>
            </a:pPr>
            <a:r>
              <a:t>Critical Attendance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11680" y="43891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7A94"/>
                </a:solidFill>
                <a:latin typeface="Calibri"/>
              </a:defRPr>
            </a:pPr>
            <a:r>
              <a:t>Overall attendance below 60%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217920" y="4114800"/>
            <a:ext cx="1097280" cy="32004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91428"/>
                </a:solidFill>
              </a:defRPr>
            </a:pPr>
            <a:r>
              <a:t>DANGER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98080" y="41148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0"/>
                </a:solidFill>
                <a:latin typeface="Calibri"/>
              </a:defRPr>
            </a:pPr>
            <a:r>
              <a:t>Doctor-Flagged Courses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98080" y="43891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7A94"/>
                </a:solidFill>
                <a:latin typeface="Calibri"/>
              </a:defRPr>
            </a:pPr>
            <a:r>
              <a:t>Courses marked is_danger by doctor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31520" y="5166360"/>
            <a:ext cx="109728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91428"/>
                </a:solidFill>
              </a:defRPr>
            </a:pPr>
            <a:r>
              <a:t>WARNING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011680" y="51663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0"/>
                </a:solidFill>
                <a:latin typeface="Calibri"/>
              </a:defRPr>
            </a:pPr>
            <a:r>
              <a:t>Below Class Average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011680" y="5440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7A94"/>
                </a:solidFill>
                <a:latin typeface="Calibri"/>
              </a:defRPr>
            </a:pPr>
            <a:r>
              <a:t>GPA more than 0.3 below class mean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7A94"/>
                </a:solidFill>
                <a:latin typeface="Calibri"/>
              </a:defRPr>
            </a:pPr>
            <a:r>
              <a:t>Alerts are dismissible and computed server-side in real-time on each dashboard load.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5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75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5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85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5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500"/>
                                  <p:tgtEl>
                                    <p:spTgt spid="5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6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500"/>
                                  <p:tgtEl>
                                    <p:spTgt spid="6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presetID="10" presetClass="entr" presetSubtype="0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500"/>
                                  <p:tgtEl>
                                    <p:spTgt spid="7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10" presetClass="entr" presetSubtype="0" fill="hold" nodeType="withEffect">
                            <p:stCondLst>
                              <p:cond delay="115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7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presetID="10" presetClass="entr" presetSubtype="0" fill="hold" nodeType="withEffect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2" dur="500"/>
                                  <p:tgtEl>
                                    <p:spTgt spid="7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presetID="10" presetClass="entr" presetSubtype="0" fill="hold" nodeType="withEffect">
                            <p:stCondLst>
                              <p:cond delay="135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500"/>
                                  <p:tgtEl>
                                    <p:spTgt spid="8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presetID="10" presetClass="entr" presetSubtype="0" fill="hold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500"/>
                                  <p:tgtEl>
                                    <p:spTgt spid="8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9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4" dur="500"/>
                                  <p:tgtEl>
                                    <p:spTgt spid="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presetID="10" presetClass="entr" presetSubtype="0" fill="hold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9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8" dur="500"/>
                                  <p:tgtEl>
                                    <p:spTgt spid="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presetID="10" presetClass="entr" presetSubtype="0" fill="hold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500"/>
                                  <p:tgtEl>
                                    <p:spTgt spid="9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Calibri"/>
              </a:defRPr>
            </a:pPr>
            <a:r>
              <a:t>Grades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7A94"/>
                </a:solidFill>
                <a:latin typeface="Calibri"/>
              </a:defRPr>
            </a:pPr>
            <a:r>
              <a:t>Detailed breakdown per course with staff contacts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084832"/>
            <a:ext cx="137160" cy="137160"/>
          </a:xfrm>
          <a:prstGeom prst="round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8"/>
                </a:solidFill>
                <a:latin typeface="Calibri"/>
              </a:defRPr>
            </a:pPr>
            <a:r>
              <a:t>Current semester GPA banner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084832"/>
            <a:ext cx="137160" cy="137160"/>
          </a:xfrm>
          <a:prstGeom prst="round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8"/>
                </a:solidFill>
                <a:latin typeface="Calibri"/>
              </a:defRPr>
            </a:pPr>
            <a:r>
              <a:t>Per-course subject cards with letter grade badge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2999232"/>
            <a:ext cx="137160" cy="137160"/>
          </a:xfrm>
          <a:prstGeom prst="round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2926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8"/>
                </a:solidFill>
                <a:latin typeface="Calibri"/>
              </a:defRPr>
            </a:pPr>
            <a:r>
              <a:t>Score breakdown grid: Attendance, Midterm, Quiz 1, Quiz 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2999232"/>
            <a:ext cx="137160" cy="137160"/>
          </a:xfrm>
          <a:prstGeom prst="round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2926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8"/>
                </a:solidFill>
                <a:latin typeface="Calibri"/>
              </a:defRPr>
            </a:pPr>
            <a:r>
              <a:t>Pre-final progress bar (score / max)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3913632"/>
            <a:ext cx="137160" cy="137160"/>
          </a:xfrm>
          <a:prstGeom prst="round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" y="3840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8"/>
                </a:solidFill>
                <a:latin typeface="Calibri"/>
              </a:defRPr>
            </a:pPr>
            <a:r>
              <a:t>Next target indicator (e.g. 'To get B+: need X on final')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17920" y="3913632"/>
            <a:ext cx="137160" cy="137160"/>
          </a:xfrm>
          <a:prstGeom prst="round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7960" y="3840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8"/>
                </a:solidFill>
                <a:latin typeface="Calibri"/>
              </a:defRPr>
            </a:pPr>
            <a:r>
              <a:t>Danger-flagged courses highlighted in red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4828032"/>
            <a:ext cx="137160" cy="137160"/>
          </a:xfrm>
          <a:prstGeom prst="round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51560" y="4754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8"/>
                </a:solidFill>
                <a:latin typeface="Calibri"/>
              </a:defRPr>
            </a:pPr>
            <a:r>
              <a:t>Course staff contact info (doctor + assistant with emails)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17920" y="4828032"/>
            <a:ext cx="137160" cy="137160"/>
          </a:xfrm>
          <a:prstGeom prst="round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37960" y="4754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8"/>
                </a:solidFill>
                <a:latin typeface="Calibri"/>
              </a:defRPr>
            </a:pPr>
            <a:r>
              <a:t>Doctor feedback section with urgency indicators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55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85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5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nodeType="withEffect">
                            <p:stCondLst>
                              <p:cond delay="115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5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500"/>
                                  <p:tgtEl>
                                    <p:spTgt spid="5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6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500"/>
                                  <p:tgtEl>
                                    <p:spTgt spid="6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presetID="10" presetClass="entr" presetSubtype="0" fill="hold" nodeType="withEffect">
                            <p:stCondLst>
                              <p:cond delay="145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500"/>
                                  <p:tgtEl>
                                    <p:spTgt spid="7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10" presetClass="entr" presetSubtype="0" fill="hold" nodeType="withEffect">
                            <p:stCondLst>
                              <p:cond delay="155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7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Calibri"/>
              </a:defRPr>
            </a:pPr>
            <a:r>
              <a:t>Performance 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7A94"/>
                </a:solidFill>
                <a:latin typeface="Calibri"/>
              </a:defRPr>
            </a:pPr>
            <a:r>
              <a:t>Student vs classmates analytics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103120"/>
            <a:ext cx="3291840" cy="34747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Overview Cards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6974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GPA with class avg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9718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Rank among peers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2461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Percentile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5204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Attendance comparison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89120" y="2103120"/>
            <a:ext cx="3291840" cy="34747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4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Charts &amp; Visuals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26974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GPA trend line (you vs class)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29718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Course radar chart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32461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Grade distribution bars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3440" y="35204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Component breakdown layers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046720" y="2103120"/>
            <a:ext cx="3291840" cy="34747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2104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Course Breakdown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21040" y="26974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Per-course score bars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40" y="29718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You vs Class Avg vs Top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21040" y="32461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Rank per course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21040" y="35204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Att / Mid / Quiz comparison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7A94"/>
                </a:solidFill>
                <a:latin typeface="Calibri"/>
              </a:defRPr>
            </a:pPr>
            <a:r>
              <a:t>All comparisons are computed server-side against peers in the same grade level.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5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5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4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6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presetID="10" presetClass="entr" presetSubtype="0" fill="hold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500"/>
                                  <p:tgtEl>
                                    <p:spTgt spid="6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500"/>
                                  <p:tgtEl>
                                    <p:spTgt spid="7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10" presetClass="entr" presetSubtype="0" fill="hold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7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presetID="10" presetClass="entr" presetSubtype="0" fill="hold" nodeType="withEffect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2" dur="500"/>
                                  <p:tgtEl>
                                    <p:spTgt spid="7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500"/>
                                  <p:tgtEl>
                                    <p:spTgt spid="6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presetID="10" presetClass="entr" presetSubtype="0" fill="hold" nodeType="withEffect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500"/>
                                  <p:tgtEl>
                                    <p:spTgt spid="8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Calibri"/>
              </a:defRPr>
            </a:pPr>
            <a:r>
              <a:t>Attendance Tracking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7A94"/>
                </a:solidFill>
                <a:latin typeface="Calibri"/>
              </a:defRPr>
            </a:pPr>
            <a:r>
              <a:t>Per-course attendance with status indicators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011680"/>
            <a:ext cx="10515600" cy="7315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20848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30"/>
                </a:solidFill>
                <a:latin typeface="Calibri"/>
              </a:defRPr>
            </a:pPr>
            <a:r>
              <a:t>Overall Stats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239572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Total attended / total classes with percentage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2880360"/>
            <a:ext cx="10515600" cy="7315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29535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30"/>
                </a:solidFill>
                <a:latin typeface="Calibri"/>
              </a:defRPr>
            </a:pPr>
            <a:r>
              <a:t>Per-Course 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326440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Course name, attended, total, percentage, status badge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749039"/>
            <a:ext cx="10515600" cy="7315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382219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30"/>
                </a:solidFill>
                <a:latin typeface="Calibri"/>
              </a:defRPr>
            </a:pPr>
            <a:r>
              <a:t>Status System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4133087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Safe (green), Warning (yellow), Danger (red) — auto-calculated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4617720"/>
            <a:ext cx="10515600" cy="7315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97280" y="46908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30"/>
                </a:solidFill>
                <a:latin typeface="Calibri"/>
              </a:defRPr>
            </a:pPr>
            <a:r>
              <a:t>Status Messages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" y="500176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Human-readable messages explaining attendance situation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5486400"/>
            <a:ext cx="10515600" cy="7315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97280" y="55595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30"/>
                </a:solidFill>
                <a:latin typeface="Calibri"/>
              </a:defRPr>
            </a:pPr>
            <a:r>
              <a:t>Doctor Controls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80" y="58704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Doctors can add, edit, delete attendance records per student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5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5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500"/>
                                  <p:tgtEl>
                                    <p:spTgt spid="5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6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presetID="10" presetClass="entr" presetSubtype="0" fill="hold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500"/>
                                  <p:tgtEl>
                                    <p:spTgt spid="6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500"/>
                                  <p:tgtEl>
                                    <p:spTgt spid="7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Calibri"/>
              </a:defRPr>
            </a:pPr>
            <a:r>
              <a:t>Schedule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7A94"/>
                </a:solidFill>
                <a:latin typeface="Calibri"/>
              </a:defRPr>
            </a:pPr>
            <a:r>
              <a:t>Semester-based timetable shared per grade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084832"/>
            <a:ext cx="109728" cy="109728"/>
          </a:xfrm>
          <a:prstGeom prst="round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8"/>
                </a:solidFill>
                <a:latin typeface="Calibri"/>
              </a:defRPr>
            </a:pPr>
            <a:r>
              <a:t>Schedule is per-semester/grade, not per-student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2679192"/>
            <a:ext cx="109728" cy="109728"/>
          </a:xfrm>
          <a:prstGeom prst="round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2606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8"/>
                </a:solidFill>
                <a:latin typeface="Calibri"/>
              </a:defRPr>
            </a:pPr>
            <a:r>
              <a:t>Auto-fetches based on student's grade level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273552"/>
            <a:ext cx="109728" cy="109728"/>
          </a:xfrm>
          <a:prstGeom prst="round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8"/>
                </a:solidFill>
                <a:latin typeface="Calibri"/>
              </a:defRPr>
            </a:pPr>
            <a:r>
              <a:t>Displays: day, course, type (Lecture/Lab/Section), time, location, doctor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867912"/>
            <a:ext cx="109728" cy="109728"/>
          </a:xfrm>
          <a:prstGeom prst="round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8"/>
                </a:solidFill>
                <a:latin typeface="Calibri"/>
              </a:defRPr>
            </a:pPr>
            <a:r>
              <a:t>Type badges with distinct colors per category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462272"/>
            <a:ext cx="109728" cy="109728"/>
          </a:xfrm>
          <a:prstGeom prst="round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728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8"/>
                </a:solidFill>
                <a:latin typeface="Calibri"/>
              </a:defRPr>
            </a:pPr>
            <a:r>
              <a:t>Ordered by day (Sunday-Thursday) then start time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5056632"/>
            <a:ext cx="109728" cy="109728"/>
          </a:xfrm>
          <a:prstGeom prst="round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97280" y="4983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8"/>
                </a:solidFill>
                <a:latin typeface="Calibri"/>
              </a:defRPr>
            </a:pPr>
            <a:r>
              <a:t>Doctors/admins manage schedule independently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5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5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500"/>
                                  <p:tgtEl>
                                    <p:spTgt spid="5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Calibri"/>
              </a:defRPr>
            </a:pPr>
            <a:r>
              <a:t>Semester Reports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7A94"/>
                </a:solidFill>
                <a:latin typeface="Calibri"/>
              </a:defRPr>
            </a:pPr>
            <a:r>
              <a:t>Historical academic records with PDF export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103120"/>
            <a:ext cx="5029200" cy="146304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3317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Report 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69748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All semesters with GPA, attendance %, credits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103120"/>
            <a:ext cx="5029200" cy="146304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3317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Semester Detail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69748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Expandable per-semester course breakdown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931920"/>
            <a:ext cx="5029200" cy="146304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41605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Course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452628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Name, credits, grade, grade points, progress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3931920"/>
            <a:ext cx="5029200" cy="146304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41605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PDF Export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452628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Print-ready semester reports via browser print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8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135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5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nodeType="withEffect">
                            <p:stCondLst>
                              <p:cond delay="145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5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115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5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Calibri"/>
              </a:defRPr>
            </a:pPr>
            <a:r>
              <a:t>Feedback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7A94"/>
                </a:solidFill>
                <a:latin typeface="Calibri"/>
              </a:defRPr>
            </a:pPr>
            <a:r>
              <a:t>Multi-directional communication between all roles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103120"/>
            <a:ext cx="137160" cy="1097280"/>
          </a:xfrm>
          <a:prstGeom prst="round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7280" y="2103120"/>
            <a:ext cx="10058400" cy="109728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2194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830"/>
                </a:solidFill>
                <a:latin typeface="Calibri"/>
              </a:defRPr>
            </a:pPr>
            <a:r>
              <a:t>Doctor → Student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514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Calibri"/>
              </a:defRPr>
            </a:pPr>
            <a:r>
              <a:t>Course feedback with urgency flags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2788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7A94"/>
                </a:solidFill>
                <a:latin typeface="Calibri"/>
              </a:defRPr>
            </a:pPr>
            <a:r>
              <a:t>Student sees it in grades page &amp; doctor dashboard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474720"/>
            <a:ext cx="137160" cy="109728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97280" y="3474720"/>
            <a:ext cx="10058400" cy="109728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3566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Calibri"/>
              </a:defRPr>
            </a:pPr>
            <a:r>
              <a:t>Admin → Doctor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3886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Calibri"/>
              </a:defRPr>
            </a:pPr>
            <a:r>
              <a:t>Contextual feedback tied to a specific student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71600" y="4160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7A94"/>
                </a:solidFill>
                <a:latin typeface="Calibri"/>
              </a:defRPr>
            </a:pPr>
            <a:r>
              <a:t>Doctor sees it in student's feedback tab (blue cards)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4846320"/>
            <a:ext cx="137160" cy="109728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097280" y="4846320"/>
            <a:ext cx="10058400" cy="109728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71600" y="4937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EEAD4"/>
                </a:solidFill>
                <a:latin typeface="Calibri"/>
              </a:defRPr>
            </a:pPr>
            <a:r>
              <a:t>Admin → Student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71600" y="5257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Calibri"/>
              </a:defRPr>
            </a:pPr>
            <a:r>
              <a:t>Direct feedback via 'Send To' dropdown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71600" y="55321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7A94"/>
                </a:solidFill>
                <a:latin typeface="Calibri"/>
              </a:defRPr>
            </a:pPr>
            <a:r>
              <a:t>Student sees it alongside doctor feedback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5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5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500"/>
                                  <p:tgtEl>
                                    <p:spTgt spid="5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6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presetID="10" presetClass="entr" presetSubtype="0" fill="hold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500"/>
                                  <p:tgtEl>
                                    <p:spTgt spid="6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500"/>
                                  <p:tgtEl>
                                    <p:spTgt spid="7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Calibri"/>
              </a:defRPr>
            </a:pPr>
            <a:r>
              <a:t>Doctor / Admin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7A94"/>
                </a:solidFill>
                <a:latin typeface="Calibri"/>
              </a:defRPr>
            </a:pPr>
            <a:r>
              <a:t>Comprehensive student management interface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011680"/>
            <a:ext cx="5029200" cy="86868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0848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30"/>
                </a:solidFill>
                <a:latin typeface="Calibri"/>
              </a:defRPr>
            </a:pPr>
            <a:r>
              <a:t>Student Selector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3957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Searchable sidebar with student list — click to load 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011680"/>
            <a:ext cx="5029200" cy="86868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0848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30"/>
                </a:solidFill>
                <a:latin typeface="Calibri"/>
              </a:defRPr>
            </a:pPr>
            <a:r>
              <a:t>Tabbed Interface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3957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Grades / Attendance / Feedback tabs per student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063240"/>
            <a:ext cx="5029200" cy="86868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3136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30"/>
                </a:solidFill>
                <a:latin typeface="Calibri"/>
              </a:defRPr>
            </a:pPr>
            <a:r>
              <a:t>Inline Editing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34472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Edit &amp; delete grades, attendance, and feedback in-place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3063240"/>
            <a:ext cx="5029200" cy="86868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2240" y="3136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30"/>
                </a:solidFill>
                <a:latin typeface="Calibri"/>
              </a:defRPr>
            </a:pPr>
            <a:r>
              <a:t>Add Records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34472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Collapsible forms to add new grades, attendance, feedback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4114800"/>
            <a:ext cx="5029200" cy="86868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5840" y="41879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30"/>
                </a:solidFill>
                <a:latin typeface="Calibri"/>
              </a:defRPr>
            </a:pPr>
            <a:r>
              <a:t>Send To Toggle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5840" y="44988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Admin can choose recipient: Student or Doctor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217920" y="4114800"/>
            <a:ext cx="5029200" cy="86868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92240" y="41879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30"/>
                </a:solidFill>
                <a:latin typeface="Calibri"/>
              </a:defRPr>
            </a:pPr>
            <a:r>
              <a:t>Schedule View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92240" y="44988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Separate schedule management section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31520" y="5166360"/>
            <a:ext cx="5029200" cy="86868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05840" y="52395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30"/>
                </a:solidFill>
                <a:latin typeface="Calibri"/>
              </a:defRPr>
            </a:pPr>
            <a:r>
              <a:t>Admin Feedback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5840" y="55504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Blue-themed cards visible only to doctor &amp; admin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217920" y="5166360"/>
            <a:ext cx="5029200" cy="86868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92240" y="52395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30"/>
                </a:solidFill>
                <a:latin typeface="Calibri"/>
              </a:defRPr>
            </a:pPr>
            <a:r>
              <a:t>Real-time Updates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492240" y="55504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All changes reflect immediately without page reload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5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75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5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85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5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500"/>
                                  <p:tgtEl>
                                    <p:spTgt spid="5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6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500"/>
                                  <p:tgtEl>
                                    <p:spTgt spid="6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presetID="10" presetClass="entr" presetSubtype="0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500"/>
                                  <p:tgtEl>
                                    <p:spTgt spid="7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10" presetClass="entr" presetSubtype="0" fill="hold" nodeType="withEffect">
                            <p:stCondLst>
                              <p:cond delay="115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7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presetID="10" presetClass="entr" presetSubtype="0" fill="hold" nodeType="withEffect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2" dur="500"/>
                                  <p:tgtEl>
                                    <p:spTgt spid="7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presetID="10" presetClass="entr" presetSubtype="0" fill="hold" nodeType="withEffect">
                            <p:stCondLst>
                              <p:cond delay="135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500"/>
                                  <p:tgtEl>
                                    <p:spTgt spid="8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presetID="10" presetClass="entr" presetSubtype="0" fill="hold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500"/>
                                  <p:tgtEl>
                                    <p:spTgt spid="8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9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4" dur="500"/>
                                  <p:tgtEl>
                                    <p:spTgt spid="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presetID="10" presetClass="entr" presetSubtype="0" fill="hold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9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8" dur="500"/>
                                  <p:tgtEl>
                                    <p:spTgt spid="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presetID="10" presetClass="entr" presetSubtype="0" fill="hold" nodeType="withEffect">
                            <p:stCondLst>
                              <p:cond delay="145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500"/>
                                  <p:tgtEl>
                                    <p:spTgt spid="9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presetID="10" presetClass="entr" presetSubtype="0" fill="hold" nodeType="withEffect">
                            <p:stCondLst>
                              <p:cond delay="1550"/>
                            </p:stCondLst>
                            <p:childTnLst>
                              <p:set>
                                <p:cBhvr>
                                  <p:cTn id="1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6" dur="500"/>
                                  <p:tgtEl>
                                    <p:spTgt spid="10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presetID="10" presetClass="entr" presetSubtype="0" fill="hold" nodeType="withEffect">
                            <p:stCondLst>
                              <p:cond delay="1650"/>
                            </p:stCondLst>
                            <p:childTnLst>
                              <p:set>
                                <p:cBhvr>
                                  <p:cTn id="1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0" dur="500"/>
                                  <p:tgtEl>
                                    <p:spTgt spid="10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Calibri"/>
              </a:defRPr>
            </a:pPr>
            <a:r>
              <a:t>Database Schema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7A94"/>
                </a:solidFill>
                <a:latin typeface="Calibri"/>
              </a:defRPr>
            </a:pPr>
            <a:r>
              <a:t>12 interconnected tables powering the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103120"/>
            <a:ext cx="1920240" cy="11887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423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830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2103120"/>
            <a:ext cx="1920240" cy="11887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3240" y="2423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830"/>
                </a:solidFill>
                <a:latin typeface="Calibri"/>
              </a:defRPr>
            </a:pPr>
            <a:r>
              <a:t>student_profiles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0" y="2103120"/>
            <a:ext cx="1920240" cy="11887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57800" y="2423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830"/>
                </a:solidFill>
                <a:latin typeface="Calibri"/>
              </a:defRPr>
            </a:pPr>
            <a:r>
              <a:t>semesters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199" y="2103120"/>
            <a:ext cx="1920240" cy="11887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52359" y="2423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830"/>
                </a:solidFill>
                <a:latin typeface="Calibri"/>
              </a:defRPr>
            </a:pPr>
            <a:r>
              <a:t>semester_courses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09760" y="2103120"/>
            <a:ext cx="1920240" cy="11887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46920" y="2423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830"/>
                </a:solidFill>
                <a:latin typeface="Calibri"/>
              </a:defRPr>
            </a:pPr>
            <a:r>
              <a:t>grades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3749039"/>
            <a:ext cx="1920240" cy="11887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8680" y="406907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830"/>
                </a:solidFill>
                <a:latin typeface="Calibri"/>
              </a:defRPr>
            </a:pPr>
            <a:r>
              <a:t>attendance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926080" y="3749039"/>
            <a:ext cx="1920240" cy="11887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63240" y="406907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830"/>
                </a:solidFill>
                <a:latin typeface="Calibri"/>
              </a:defRPr>
            </a:pPr>
            <a:r>
              <a:t>feedback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120640" y="3749039"/>
            <a:ext cx="1920240" cy="11887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257800" y="406907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830"/>
                </a:solidFill>
                <a:latin typeface="Calibri"/>
              </a:defRPr>
            </a:pPr>
            <a:r>
              <a:t>admin_feedback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315199" y="3749039"/>
            <a:ext cx="1920240" cy="11887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52359" y="406907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830"/>
                </a:solidFill>
                <a:latin typeface="Calibri"/>
              </a:defRPr>
            </a:pPr>
            <a:r>
              <a:t>schedule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509760" y="3749039"/>
            <a:ext cx="1920240" cy="11887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646920" y="406907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830"/>
                </a:solidFill>
                <a:latin typeface="Calibri"/>
              </a:defRPr>
            </a:pPr>
            <a:r>
              <a:t>course_staff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6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64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76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5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5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500"/>
                                  <p:tgtEl>
                                    <p:spTgt spid="5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nodeType="with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6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presetID="10" presetClass="entr" presetSubtype="0" fill="hold" nodeType="withEffect">
                            <p:stCondLst>
                              <p:cond delay="122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500"/>
                                  <p:tgtEl>
                                    <p:spTgt spid="6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presetID="10" presetClass="entr" presetSubtype="0" fill="hold" nodeType="withEffect">
                            <p:stCondLst>
                              <p:cond delay="124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500"/>
                                  <p:tgtEl>
                                    <p:spTgt spid="7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10" presetClass="entr" presetSubtype="0" fill="hold" nodeType="withEffect">
                            <p:stCondLst>
                              <p:cond delay="134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7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presetID="10" presetClass="entr" presetSubtype="0" fill="hold" nodeType="withEffect">
                            <p:stCondLst>
                              <p:cond delay="136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2" dur="500"/>
                                  <p:tgtEl>
                                    <p:spTgt spid="7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presetID="10" presetClass="entr" presetSubtype="0" fill="hold" nodeType="withEffect">
                            <p:stCondLst>
                              <p:cond delay="146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500"/>
                                  <p:tgtEl>
                                    <p:spTgt spid="8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presetID="10" presetClass="entr" presetSubtype="0" fill="hold" nodeType="withEffect">
                            <p:stCondLst>
                              <p:cond delay="148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500"/>
                                  <p:tgtEl>
                                    <p:spTgt spid="8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presetID="10" presetClass="entr" presetSubtype="0" fill="hold" nodeType="withEffect">
                            <p:stCondLst>
                              <p:cond delay="1580"/>
                            </p:stCondLst>
                            <p:childTnLst>
                              <p:set>
                                <p:cBhvr>
                                  <p:cTn id="9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4" dur="500"/>
                                  <p:tgtEl>
                                    <p:spTgt spid="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Calibri"/>
              </a:defRPr>
            </a:pPr>
            <a:r>
              <a:t>API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7A94"/>
                </a:solidFill>
                <a:latin typeface="Calibri"/>
              </a:defRPr>
            </a:pPr>
            <a:r>
              <a:t>RESTful endpoints organized by role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011680"/>
            <a:ext cx="5029200" cy="411480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2402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Student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60604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GET  /student/:id/home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88036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GET  /student/:id/grades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15468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GET  /student/:id/attendance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42900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GET  /student/:id/comparison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370332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GET  /student/:id/reports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397764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GET  /student/:id/schedule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425196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GET  /student/:id/profile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2011680"/>
            <a:ext cx="5029200" cy="411480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22402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Doctor API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260604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GET/POST  /doctor/students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288036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CRUD      /doctor/student/:id/grades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315468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CRUD      /doctor/student/:id/attendance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92240" y="342900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CRUD      /doctor/student/:id/feedback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92240" y="370332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CRUD      /doctor/student/:id/admin-feedback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92240" y="397764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GET/POST  /doctor/schedule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5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5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500"/>
                                  <p:tgtEl>
                                    <p:spTgt spid="5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6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500"/>
                                  <p:tgtEl>
                                    <p:spTgt spid="6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presetID="10" presetClass="entr" presetSubtype="0" fill="hold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500"/>
                                  <p:tgtEl>
                                    <p:spTgt spid="7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10" presetClass="entr" presetSubtype="0" fill="hold" nodeType="withEffect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7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2" dur="5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Calibri"/>
              </a:defRPr>
            </a:pPr>
            <a:r>
              <a:t>Animations &amp; User Experience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7A94"/>
                </a:solidFill>
                <a:latin typeface="Calibri"/>
              </a:defRPr>
            </a:pPr>
            <a:r>
              <a:t>Smooth, polished interactions throughout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30"/>
                </a:solidFill>
                <a:latin typeface="Calibri"/>
              </a:defRPr>
            </a:pPr>
            <a:r>
              <a:t>fadeUp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011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Cards, sections, page wrappers slide up on 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30"/>
                </a:solidFill>
                <a:latin typeface="Calibri"/>
              </a:defRPr>
            </a:pPr>
            <a:r>
              <a:t>stagger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011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Children animate sequentially with increasing delay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063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30"/>
                </a:solidFill>
                <a:latin typeface="Calibri"/>
              </a:defRPr>
            </a:pPr>
            <a:r>
              <a:t>scaleIn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063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Login card and modals scale from 92% to 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063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30"/>
                </a:solidFill>
                <a:latin typeface="Calibri"/>
              </a:defRPr>
            </a:pPr>
            <a:r>
              <a:t>slideInLeft / Right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3063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Welcome bar, page headers slide from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4114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30"/>
                </a:solidFill>
                <a:latin typeface="Calibri"/>
              </a:defRPr>
            </a:pPr>
            <a:r>
              <a:t>Hover Glow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Cards lift + border glow + shadow on hover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4114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30"/>
                </a:solidFill>
                <a:latin typeface="Calibri"/>
              </a:defRPr>
            </a:pPr>
            <a:r>
              <a:t>Progress Bars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3816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Animated fill with cubic-bezier easing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5166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30"/>
                </a:solidFill>
                <a:latin typeface="Calibri"/>
              </a:defRPr>
            </a:pPr>
            <a:r>
              <a:t>Badge Pulse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51760" y="5166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Subtle pulse animation on badge hover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17920" y="5166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30"/>
                </a:solidFill>
                <a:latin typeface="Calibri"/>
              </a:defRPr>
            </a:pPr>
            <a:r>
              <a:t>Button Press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38160" y="5166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Scale down to 97% on active/click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55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85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5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nodeType="withEffect">
                            <p:stCondLst>
                              <p:cond delay="115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5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500"/>
                                  <p:tgtEl>
                                    <p:spTgt spid="5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6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500"/>
                                  <p:tgtEl>
                                    <p:spTgt spid="6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presetID="10" presetClass="entr" presetSubtype="0" fill="hold" nodeType="withEffect">
                            <p:stCondLst>
                              <p:cond delay="145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500"/>
                                  <p:tgtEl>
                                    <p:spTgt spid="7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10" presetClass="entr" presetSubtype="0" fill="hold" nodeType="withEffect">
                            <p:stCondLst>
                              <p:cond delay="155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7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Calibri"/>
              </a:defRPr>
            </a:pPr>
            <a:r>
              <a:t>Demo Credentials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7A94"/>
                </a:solidFill>
                <a:latin typeface="Calibri"/>
              </a:defRPr>
            </a:pPr>
            <a:r>
              <a:t>Pre-seeded accounts for testing all roles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286000"/>
            <a:ext cx="3291840" cy="274320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803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ID: 30012151012341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1546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Password: 123456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4290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005840" y="37033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20 students across 4 grades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89120" y="2286000"/>
            <a:ext cx="3291840" cy="274320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4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Doctor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28803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ID: 29803050202394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31546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Password: 123456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34290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</a:p>
        </p:txBody>
      </p:sp>
      <p:sp>
        <p:nvSpPr>
          <p:cNvPr id="55" name="TextBox 54"/>
          <p:cNvSpPr txBox="1"/>
          <p:nvPr/>
        </p:nvSpPr>
        <p:spPr>
          <a:xfrm>
            <a:off x="4663440" y="37033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Full doctor access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046720" y="2286000"/>
            <a:ext cx="3291840" cy="274320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2104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21040" y="28803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ID: 29803050202395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40" y="31546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Password: 123456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21040" y="34290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</a:p>
        </p:txBody>
      </p:sp>
      <p:sp>
        <p:nvSpPr>
          <p:cNvPr id="79" name="TextBox 78"/>
          <p:cNvSpPr txBox="1"/>
          <p:nvPr/>
        </p:nvSpPr>
        <p:spPr>
          <a:xfrm>
            <a:off x="8321040" y="37033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Full admin + doctor access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830"/>
                </a:solidFill>
                <a:latin typeface="Calibri"/>
              </a:defRPr>
            </a:pPr>
            <a:r>
              <a:t>Run: npm install &amp;&amp; node server/app.js   |   Open: http://localhost:3000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nodeType="withEffect">
                            <p:stCondLst>
                              <p:cond delay="115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5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nodeType="withEffect">
                            <p:stCondLst>
                              <p:cond delay="135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5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75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4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6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500"/>
                                  <p:tgtEl>
                                    <p:spTgt spid="6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presetID="10" presetClass="entr" presetSubtype="0" fill="hold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500"/>
                                  <p:tgtEl>
                                    <p:spTgt spid="7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10" presetClass="entr" presetSubtype="0" fill="hold" nodeType="withEffect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7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presetID="10" presetClass="entr" presetSubtype="0" fill="hold" nodeType="withEffect">
                            <p:stCondLst>
                              <p:cond delay="170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2" dur="500"/>
                                  <p:tgtEl>
                                    <p:spTgt spid="7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500"/>
                                  <p:tgtEl>
                                    <p:spTgt spid="6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presetID="10" presetClass="entr" presetSubtype="0" fill="hold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500"/>
                                  <p:tgtEl>
                                    <p:spTgt spid="8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Calibri"/>
              </a:defRPr>
            </a:pPr>
            <a:r>
              <a:t>Key Highlights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7A94"/>
                </a:solidFill>
                <a:latin typeface="Calibri"/>
              </a:defRPr>
            </a:pPr>
            <a:r>
              <a:t>What makes UniVision stand 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084832"/>
            <a:ext cx="109728" cy="109728"/>
          </a:xfrm>
          <a:prstGeom prst="round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Complete role-based portal: Student, Doctor, Admin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084832"/>
            <a:ext cx="109728" cy="109728"/>
          </a:xfrm>
          <a:prstGeom prst="round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Real-time performance analytics with Chart.js visualizations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2907792"/>
            <a:ext cx="109728" cy="109728"/>
          </a:xfrm>
          <a:prstGeom prst="round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2834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Smart alert system detecting GPA drops, attendance issues, and flagged courses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2907792"/>
            <a:ext cx="109728" cy="109728"/>
          </a:xfrm>
          <a:prstGeom prst="round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2834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Performance comparison: GPA, attendance, and per-course scores vs classmates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3730752"/>
            <a:ext cx="109728" cy="109728"/>
          </a:xfrm>
          <a:prstGeom prst="round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" y="3657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Multi-directional feedback system with context-aware routing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17920" y="3730752"/>
            <a:ext cx="109728" cy="109728"/>
          </a:xfrm>
          <a:prstGeom prst="round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7960" y="3657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Dark navy + gold theme inspired by university branding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4553712"/>
            <a:ext cx="109728" cy="109728"/>
          </a:xfrm>
          <a:prstGeom prst="round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51560" y="4480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Smooth CSS animations on every page (fadeUp, stagger, hover glow)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17920" y="4553712"/>
            <a:ext cx="109728" cy="109728"/>
          </a:xfrm>
          <a:prstGeom prst="round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37960" y="4480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RESTful API with JWT auth and role-based middleware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31520" y="5376672"/>
            <a:ext cx="109728" cy="109728"/>
          </a:xfrm>
          <a:prstGeom prst="round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51560" y="5303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SQLite database with comprehensive seed scripts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217920" y="5376672"/>
            <a:ext cx="109728" cy="109728"/>
          </a:xfrm>
          <a:prstGeom prst="round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537960" y="5303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Responsive design adapting from mobile to desktop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6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64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76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5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5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500"/>
                                  <p:tgtEl>
                                    <p:spTgt spid="5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nodeType="with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6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presetID="10" presetClass="entr" presetSubtype="0" fill="hold" nodeType="withEffect">
                            <p:stCondLst>
                              <p:cond delay="122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500"/>
                                  <p:tgtEl>
                                    <p:spTgt spid="6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presetID="10" presetClass="entr" presetSubtype="0" fill="hold" nodeType="withEffect">
                            <p:stCondLst>
                              <p:cond delay="124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500"/>
                                  <p:tgtEl>
                                    <p:spTgt spid="7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10" presetClass="entr" presetSubtype="0" fill="hold" nodeType="withEffect">
                            <p:stCondLst>
                              <p:cond delay="134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7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presetID="10" presetClass="entr" presetSubtype="0" fill="hold" nodeType="withEffect">
                            <p:stCondLst>
                              <p:cond delay="136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2" dur="500"/>
                                  <p:tgtEl>
                                    <p:spTgt spid="7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presetID="10" presetClass="entr" presetSubtype="0" fill="hold" nodeType="withEffect">
                            <p:stCondLst>
                              <p:cond delay="146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500"/>
                                  <p:tgtEl>
                                    <p:spTgt spid="8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presetID="10" presetClass="entr" presetSubtype="0" fill="hold" nodeType="withEffect">
                            <p:stCondLst>
                              <p:cond delay="148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500"/>
                                  <p:tgtEl>
                                    <p:spTgt spid="8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presetID="10" presetClass="entr" presetSubtype="0" fill="hold" nodeType="withEffect">
                            <p:stCondLst>
                              <p:cond delay="1580"/>
                            </p:stCondLst>
                            <p:childTnLst>
                              <p:set>
                                <p:cBhvr>
                                  <p:cTn id="9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4" dur="500"/>
                                  <p:tgtEl>
                                    <p:spTgt spid="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0" y="-914400"/>
            <a:ext cx="5029200" cy="8686800"/>
          </a:xfrm>
          <a:prstGeom prst="roundRect">
            <a:avLst/>
          </a:prstGeom>
          <a:solidFill>
            <a:srgbClr val="0C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79" y="0"/>
            <a:ext cx="50800" cy="6858000"/>
          </a:xfrm>
          <a:prstGeom prst="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D4A830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017520"/>
            <a:ext cx="2743200" cy="38100"/>
          </a:xfrm>
          <a:prstGeom prst="rect">
            <a:avLst/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83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0"/>
                </a:solidFill>
                <a:latin typeface="Calibri"/>
              </a:defRPr>
            </a:pPr>
            <a:r>
              <a:t>UniVision — Student Portal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148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7A94"/>
                </a:solidFill>
                <a:latin typeface="Calibri"/>
              </a:defRPr>
            </a:pPr>
            <a:r>
              <a:t>Questions? Let's discuss!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1828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C44A"/>
                </a:solidFill>
                <a:latin typeface="Calibri"/>
              </a:defRPr>
            </a:pPr>
            <a:r>
              <a:t>  Full-Stack Portal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377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C44A"/>
                </a:solidFill>
                <a:latin typeface="Calibri"/>
              </a:defRPr>
            </a:pPr>
            <a:r>
              <a:t>  Smart Alerts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926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C44A"/>
                </a:solidFill>
                <a:latin typeface="Calibri"/>
              </a:defRPr>
            </a:pPr>
            <a:r>
              <a:t>  Performance Analytics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474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C44A"/>
                </a:solidFill>
                <a:latin typeface="Calibri"/>
              </a:defRPr>
            </a:pPr>
            <a:r>
              <a:t>  Role-Based Access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8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8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