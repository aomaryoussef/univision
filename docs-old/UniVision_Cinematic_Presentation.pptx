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GPA</c:v>
                </c:pt>
              </c:strCache>
            </c:strRef>
          </c:tx>
          <c:spPr>
            <a:solidFill>
              <a:srgbClr val="D4A830"/>
            </a:solidFill>
            <a:ln w="31750" cap="flat">
              <a:solidFill>
                <a:srgbClr val="D4A8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830"/>
              </a:solidFill>
              <a:ln w="9525" cap="flat">
                <a:solidFill>
                  <a:srgbClr val="D4A8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  <c:pt idx="5">
                    <c:v>Sem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3</c:v>
                </c:pt>
                <c:pt idx="2">
                  <c:v>3.4</c:v>
                </c:pt>
                <c:pt idx="3">
                  <c:v>3.6</c:v>
                </c:pt>
                <c:pt idx="4">
                  <c:v>3.5</c:v>
                </c:pt>
                <c:pt idx="5">
                  <c:v>3.8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Avg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Sem 1</c:v>
                  </c:pt>
                  <c:pt idx="1">
                    <c:v>Sem 2</c:v>
                  </c:pt>
                  <c:pt idx="2">
                    <c:v>Sem 3</c:v>
                  </c:pt>
                  <c:pt idx="3">
                    <c:v>Sem 4</c:v>
                  </c:pt>
                  <c:pt idx="4">
                    <c:v>Sem 5</c:v>
                  </c:pt>
                  <c:pt idx="5">
                    <c:v>Sem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2.9</c:v>
                </c:pt>
                <c:pt idx="1">
                  <c:v>2.8</c:v>
                </c:pt>
                <c:pt idx="2">
                  <c:v>2.9</c:v>
                </c:pt>
                <c:pt idx="3">
                  <c:v>3</c:v>
                </c:pt>
                <c:pt idx="4">
                  <c:v>2.9</c:v>
                </c:pt>
                <c:pt idx="5">
                  <c:v>3.1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2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6A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896A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D4A830">
              <a:alpha val="15000"/>
            </a:srgbClr>
          </a:solidFill>
          <a:ln w="12700">
            <a:solidFill>
              <a:srgbClr val="D4A83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D4A830">
              <a:alpha val="12000"/>
            </a:srgbClr>
          </a:solidFill>
          <a:ln w="12700">
            <a:solidFill>
              <a:srgbClr val="D4A83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45720" cy="228600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43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 PROJECT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UniVision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320040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26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Student Portal System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Academic Journey.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E-Learning University (EELU)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students at EELU need a better 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234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Information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947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platforms, no single source of truth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234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5584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Performance Insight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947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track GPA trends or compare with peers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4300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23444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44768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Early Warning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4768" y="194767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risks discovered too late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0604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6974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Gaps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34107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feedback with no central tracking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60604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60604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6974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55848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Preparation Gap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34107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tools to build CVs or connect to jobs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606040"/>
            <a:ext cx="2651760" cy="13258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606040"/>
            <a:ext cx="41148" cy="132588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2697480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44768" y="30632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Accessibility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44768" y="341071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mobile-friendly, no offline support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UniVision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portal that centralizes everything a student needs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54480" cy="23774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155448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all academic data in one place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80260" y="1371600"/>
            <a:ext cx="1554480" cy="23774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0260" y="1371600"/>
            <a:ext cx="155448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3180" y="1600200"/>
            <a:ext cx="548640" cy="548640"/>
          </a:xfrm>
          <a:prstGeom prst="ellipse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02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717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students insights &amp; analytics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94760" y="1371600"/>
            <a:ext cx="1554480" cy="23774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371600"/>
            <a:ext cx="155448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600200"/>
            <a:ext cx="548640" cy="548640"/>
          </a:xfrm>
          <a:prstGeom prst="ellipse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of academic risk early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09260" y="1371600"/>
            <a:ext cx="1554480" cy="23774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9260" y="1371600"/>
            <a:ext cx="155448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2180" y="1600200"/>
            <a:ext cx="548640" cy="548640"/>
          </a:xfrm>
          <a:prstGeom prst="ellipse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92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007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students to career tools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1371600"/>
            <a:ext cx="1554480" cy="23774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1371600"/>
            <a:ext cx="155448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1600200"/>
            <a:ext cx="548640" cy="548640"/>
          </a:xfrm>
          <a:prstGeom prst="ellipse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0" y="27432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offline with PWA support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Platform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0" y="749808"/>
            <a:ext cx="4572000" cy="347472"/>
          </a:xfrm>
          <a:prstGeom prst="rect">
            <a:avLst/>
          </a:prstGeom>
          <a:solidFill>
            <a:srgbClr val="141929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7498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uni-vision-azure.vercel.app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32461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Portal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148132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4813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Pages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892808"/>
            <a:ext cx="2377440" cy="18288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08483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011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Dashboard &amp; Charts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256032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4871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Timetable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" y="303580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9626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Countdown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" y="3511296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Builder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" y="3986784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9136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UniBot Chat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1325880"/>
            <a:ext cx="2651760" cy="32461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1325880"/>
            <a:ext cx="265176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 Dashboard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48132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4813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CRUD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1892808"/>
            <a:ext cx="2377440" cy="18288"/>
          </a:xfrm>
          <a:prstGeom prst="rect">
            <a:avLst/>
          </a:prstGeom>
          <a:solidFill>
            <a:srgbClr val="D4A830">
              <a:alpha val="40000"/>
            </a:srgbClr>
          </a:solidFill>
          <a:ln w="12700">
            <a:solidFill>
              <a:srgbClr val="D4A83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0712" y="2084832"/>
            <a:ext cx="109728" cy="10972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2011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Grade Components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10712" y="2560320"/>
            <a:ext cx="109728" cy="10972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24871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Student Grades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10712" y="3035808"/>
            <a:ext cx="109728" cy="10972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29626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Materials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10712" y="3511296"/>
            <a:ext cx="109728" cy="10972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Feedback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10712" y="3986784"/>
            <a:ext cx="109728" cy="10972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93592" y="39136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Enrolled Students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35040" y="1325880"/>
            <a:ext cx="2651760" cy="32461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1325880"/>
            <a:ext cx="26517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463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Control Panel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680960" y="1481328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0960" y="1481328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72200" y="1892808"/>
            <a:ext cx="2377440" cy="18288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99632" y="208483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2011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All Users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99632" y="256032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82512" y="24871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Doctors to Courses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199632" y="303580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2512" y="29626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Configuration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99632" y="351129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&amp; DB Management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99632" y="398678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39136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Doctor Capabilities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1888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30012151012341 / 123456   ·   Doctor: 29803050202394 / 123456   ·   Admin: admin001 / 123456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Dashboard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 student needs, in one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45720" cy="14173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45720" cy="5029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Stats &amp; Charts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61848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cumulative &amp; current GPA with trend visualization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05156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51560"/>
            <a:ext cx="45720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05156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51560"/>
            <a:ext cx="457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Schedule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161848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timetable showing current day classes, room &amp; doctor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05156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51560"/>
            <a:ext cx="45720" cy="14173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05156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051560"/>
            <a:ext cx="45720" cy="502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Progress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44768" y="161848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Per-course completion bars with component breakdowns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60604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606040"/>
            <a:ext cx="45720" cy="5029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697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Achievers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31729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with gold/silver/bronze rankings among peers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46120" y="260604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2606040"/>
            <a:ext cx="45720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260604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2606040"/>
            <a:ext cx="457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2697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Countdown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355848" y="31729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exams with urgency coloring (red &lt; 3 days)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0" y="2606040"/>
            <a:ext cx="2651760" cy="141732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2606040"/>
            <a:ext cx="45720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2606040"/>
            <a:ext cx="2651760" cy="5029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2606040"/>
            <a:ext cx="457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44768" y="2697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Feedback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144768" y="3172968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feedback with warning flags for at-risk courses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Intelligence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22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Trend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0972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GPA across all semesters visually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Benchmarking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470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your performance with class average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22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Chart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968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Multi-axis skill overview per course category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201168" cy="201168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Distribution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3467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your grades spread across components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"Know exactly where you stand"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754880" y="685800"/>
          <a:ext cx="4114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UniBot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Academic Assistant — Always On. No API Needed.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657600" cy="5943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" cy="5943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Intents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904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all common student questions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3657600" cy="5943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38528"/>
            <a:ext cx="41148" cy="5943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84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Responds in English and Arabic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88336"/>
            <a:ext cx="3657600" cy="5943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41148" cy="5943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340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9900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previous messages in session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3657600" cy="5943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38144"/>
            <a:ext cx="41148" cy="5943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838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73989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internet required, no API calls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87952"/>
            <a:ext cx="3657600" cy="5943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87952"/>
            <a:ext cx="41148" cy="59436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33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 UI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4897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Cards, tables and formatted replies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051560"/>
            <a:ext cx="4297680" cy="3886200"/>
          </a:xfrm>
          <a:prstGeom prst="rect">
            <a:avLst/>
          </a:prstGeom>
          <a:solidFill>
            <a:srgbClr val="141929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1051560"/>
            <a:ext cx="4297680" cy="384048"/>
          </a:xfrm>
          <a:prstGeom prst="rect">
            <a:avLst/>
          </a:prstGeom>
          <a:solidFill>
            <a:srgbClr val="D4A830">
              <a:alpha val="8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0972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E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◉ UniBot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55280" y="11155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Online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81728" y="1554480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600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Hi! Your GPA is 3.6 — Great standing!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210312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D4A830">
              <a:alpha val="30000"/>
            </a:srgbClr>
          </a:solidFill>
          <a:ln w="12700">
            <a:solidFill>
              <a:srgbClr val="D4A830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2148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my attendance status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81728" y="256032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6060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Summary: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Math: 90%  Eng: 85%  CS: 78%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0" y="3319272"/>
            <a:ext cx="3017520" cy="347472"/>
          </a:xfrm>
          <a:prstGeom prst="roundRect">
            <a:avLst>
              <a:gd name="adj" fmla="val 21053"/>
            </a:avLst>
          </a:prstGeom>
          <a:solidFill>
            <a:srgbClr val="D4A830">
              <a:alpha val="30000"/>
            </a:srgbClr>
          </a:solidFill>
          <a:ln w="12700">
            <a:solidFill>
              <a:srgbClr val="D4A830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3649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جدولي اليوم؟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81728" y="3776472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3867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Math 10am Rm-5, CS 2pm Lab-3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43251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. 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Career Bridge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Builder &amp; Job Platform Hub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57200" cy="274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SECTIONS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00200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Info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130552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391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Summary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660904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5694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191256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0998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Experience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84448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721608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630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3840480" cy="41148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251960"/>
            <a:ext cx="137160" cy="137160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160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/ Certs / Languages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023360" cy="804672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097280"/>
            <a:ext cx="45720" cy="804672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170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ATS Preview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your CV as a recruiter does, in real-time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057400"/>
            <a:ext cx="4023360" cy="804672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057400"/>
            <a:ext cx="45720" cy="804672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130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Export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Puppeteer-rendered PDF download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017520"/>
            <a:ext cx="4023360" cy="804672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3017520"/>
            <a:ext cx="45720" cy="804672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0906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Auto-saved to database, no data loss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977640"/>
            <a:ext cx="4023360" cy="804672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977640"/>
            <a:ext cx="45720" cy="804672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0507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Platforms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0600" y="4389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LinkedIn, Wuzzuf, Indeed &amp; 4 more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Management Made Simple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840480" cy="39776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84048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698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581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Manage Grade Components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Submit &amp; Update Student Grades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243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Upload Course Materials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4553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Set Personalized Feedback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6667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View Enrolled Students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1879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Analytics &amp; Class Statistics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3400" y="960120"/>
            <a:ext cx="36576" cy="397764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960120"/>
            <a:ext cx="3840480" cy="397764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960120"/>
            <a:ext cx="3840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698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Control Panel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1581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All doctor capabilities included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Manage All Users &amp; Roles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6243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Assign Doctors to Courses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14553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System-wide Configuration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66674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Course &amp; Database Management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41879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  Full Audit &amp; Access Control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Modern Tech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97480" cy="3886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2697480" cy="50292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14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9568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496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ES2022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3035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Chart.js 4.4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357530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 Awesome 6.4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" y="4114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Fonts Inter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14700" y="822960"/>
            <a:ext cx="2697480" cy="3886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4700" y="822960"/>
            <a:ext cx="2697480" cy="502920"/>
          </a:xfrm>
          <a:prstGeom prst="rect">
            <a:avLst/>
          </a:prstGeom>
          <a:solidFill>
            <a:srgbClr val="D4A830">
              <a:alpha val="25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1860" y="914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9292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18+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9292" y="19568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Express.js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9292" y="2496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better-sqlite3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9292" y="3035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9.0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9292" y="357530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bcryptjs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9292" y="4114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Puppeteer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822960"/>
            <a:ext cx="2697480" cy="3886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822960"/>
            <a:ext cx="2697480" cy="502920"/>
          </a:xfrm>
          <a:prstGeom prst="rect">
            <a:avLst/>
          </a:prstGeom>
          <a:solidFill>
            <a:srgbClr val="2DD4BF">
              <a:alpha val="25000"/>
            </a:srgbClr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9144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36792" y="141732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Serverless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36792" y="1956816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PWA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36792" y="249631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at /tmp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6792" y="3035808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Auto-seed cold start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36792" y="3575304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vercel.json routing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36792" y="411480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DB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build step.   Zero framework overhead.   Pure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868680"/>
            <a:ext cx="1920240" cy="749808"/>
          </a:xfrm>
          <a:prstGeom prst="rect">
            <a:avLst/>
          </a:prstGeom>
          <a:solidFill>
            <a:srgbClr val="141929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601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· CSS · JS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868680"/>
            <a:ext cx="1920240" cy="749808"/>
          </a:xfrm>
          <a:prstGeom prst="rect">
            <a:avLst/>
          </a:prstGeom>
          <a:solidFill>
            <a:srgbClr val="141929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9601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Server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252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· JWT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240280"/>
            <a:ext cx="1920240" cy="749808"/>
          </a:xfrm>
          <a:prstGeom prst="rect">
            <a:avLst/>
          </a:prstGeom>
          <a:solidFill>
            <a:srgbClr val="141929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6243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Cache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2240280"/>
            <a:ext cx="1920240" cy="749808"/>
          </a:xfrm>
          <a:prstGeom prst="rect">
            <a:avLst/>
          </a:prstGeom>
          <a:solidFill>
            <a:srgbClr val="14192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23317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6243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80360" y="1216152"/>
            <a:ext cx="2926080" cy="45720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60720" y="1143000"/>
            <a:ext cx="91440" cy="201168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960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+ JWT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74520" y="1627632"/>
            <a:ext cx="45720" cy="594360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627632"/>
            <a:ext cx="45720" cy="594360"/>
          </a:xfrm>
          <a:prstGeom prst="rect">
            <a:avLst/>
          </a:prstGeom>
          <a:solidFill>
            <a:srgbClr val="8896A8"/>
          </a:solidFill>
          <a:ln w="12700">
            <a:solidFill>
              <a:srgbClr val="889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8288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880360" y="2578608"/>
            <a:ext cx="2926080" cy="36576"/>
          </a:xfrm>
          <a:prstGeom prst="rect">
            <a:avLst/>
          </a:prstGeom>
          <a:solidFill>
            <a:srgbClr val="8896A8">
              <a:alpha val="50000"/>
            </a:srgbClr>
          </a:solidFill>
          <a:ln w="12700">
            <a:solidFill>
              <a:srgbClr val="8896A8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11880"/>
            <a:ext cx="1920240" cy="12801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84632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Tables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schema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14600" y="3611880"/>
            <a:ext cx="1920240" cy="12801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484632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42+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25146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1460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coverage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3611880"/>
            <a:ext cx="1920240" cy="12801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484632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45720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Student/Doctor/Admin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29400" y="3611880"/>
            <a:ext cx="1920240" cy="128016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484632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37033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629400" y="4206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Groups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29400" y="44805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Auth/Student/Doctor/Admin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It. Use It Anywhere.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Web App — Native experience on any device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45720" cy="65836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197864"/>
            <a:ext cx="365760" cy="365760"/>
          </a:xfrm>
          <a:prstGeom prst="ellipse">
            <a:avLst/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124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on Android &amp; iOS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990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home screen with one tap — no app store needed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37944"/>
            <a:ext cx="8229600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37944"/>
            <a:ext cx="45720" cy="65836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984248"/>
            <a:ext cx="365760" cy="365760"/>
          </a:xfrm>
          <a:prstGeom prst="ellipse">
            <a:avLst/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984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1911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Service Worker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1854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load even without internet via cached assets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24328"/>
            <a:ext cx="8229600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24328"/>
            <a:ext cx="45720" cy="65836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2770632"/>
            <a:ext cx="365760" cy="365760"/>
          </a:xfrm>
          <a:prstGeom prst="ellipse">
            <a:avLst/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Network-First Strategy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29718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data when online, fallback cache when offline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10712"/>
            <a:ext cx="8229600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410712"/>
            <a:ext cx="45720" cy="65836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557016"/>
            <a:ext cx="365760" cy="365760"/>
          </a:xfrm>
          <a:prstGeom prst="ellipse">
            <a:avLst/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3557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34838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App Feel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7581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mode, no browser chrome, smooth transitions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97096"/>
            <a:ext cx="8229600" cy="658368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197096"/>
            <a:ext cx="45720" cy="658368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" y="4343400"/>
            <a:ext cx="365760" cy="365760"/>
          </a:xfrm>
          <a:prstGeom prst="ellipse">
            <a:avLst/>
          </a:prstGeom>
          <a:solidFill>
            <a:srgbClr val="D4A830">
              <a:alpha val="30000"/>
            </a:srgbClr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88720" y="4270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Manifest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88720" y="454456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color: gold (d4a830), background: dark navy (0a0e1a)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Themes. One Design System.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custom properties for instant, flash-free theme switching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417320"/>
          </a:xfrm>
          <a:prstGeom prst="rect">
            <a:avLst/>
          </a:prstGeom>
          <a:solidFill>
            <a:srgbClr val="0A0E1A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192024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43000"/>
            <a:ext cx="347472" cy="34747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207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Gold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0391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2A2A3E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391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1005840"/>
            <a:ext cx="192024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005840"/>
            <a:ext cx="192024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1143000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207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Ocean Blue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20391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2A2A3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0391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1920240" cy="1417320"/>
          </a:xfrm>
          <a:prstGeom prst="rect">
            <a:avLst/>
          </a:prstGeom>
          <a:solidFill>
            <a:srgbClr val="0A1A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143000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1207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0391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2A2A3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0391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66560" y="1005840"/>
            <a:ext cx="1920240" cy="1417320"/>
          </a:xfrm>
          <a:prstGeom prst="rect">
            <a:avLst/>
          </a:prstGeom>
          <a:solidFill>
            <a:srgbClr val="12091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1005840"/>
            <a:ext cx="192024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1143000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33488" y="12070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Purple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20391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2A2A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0391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606040"/>
            <a:ext cx="1920240" cy="1417320"/>
          </a:xfrm>
          <a:prstGeom prst="rect">
            <a:avLst/>
          </a:prstGeom>
          <a:solidFill>
            <a:srgbClr val="1A0A14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06040"/>
            <a:ext cx="192024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2743200"/>
            <a:ext cx="347472" cy="34747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36393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2A2A3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639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560320" y="260604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0" y="2606040"/>
            <a:ext cx="1920240" cy="54864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97480" y="2743200"/>
            <a:ext cx="347472" cy="347472"/>
          </a:xfrm>
          <a:prstGeom prst="ellipse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27248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97480" y="36393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0E0E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3639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2606040"/>
            <a:ext cx="1920240" cy="1417320"/>
          </a:xfrm>
          <a:prstGeom prst="rect">
            <a:avLst/>
          </a:prstGeom>
          <a:solidFill>
            <a:srgbClr val="F8F6F1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606040"/>
            <a:ext cx="192024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2743200"/>
            <a:ext cx="347472" cy="34747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30368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Off-White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00600" y="36393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0E0E0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639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66560" y="2606040"/>
            <a:ext cx="19202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66560" y="2606040"/>
            <a:ext cx="192024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2743200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33488" y="28072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Grey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03720" y="3639312"/>
            <a:ext cx="685800" cy="256032"/>
          </a:xfrm>
          <a:prstGeom prst="roundRect">
            <a:avLst>
              <a:gd name="adj" fmla="val 17857"/>
            </a:avLst>
          </a:prstGeom>
          <a:solidFill>
            <a:srgbClr val="E0E0E0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3639312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responsive across all screen sizes  •  Mobile-first  •  Offline-ready PWA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2560320" cy="2560320"/>
          </a:xfrm>
          <a:prstGeom prst="ellipse">
            <a:avLst/>
          </a:prstGeom>
          <a:solidFill>
            <a:srgbClr val="D4A830">
              <a:alpha val="12000"/>
            </a:srgbClr>
          </a:solidFill>
          <a:ln w="12700">
            <a:solidFill>
              <a:srgbClr val="D4A830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The Numbers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Full-featured portal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91440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46888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42+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56032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coverage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46888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Tables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schema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91440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46888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0241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76656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Students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057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performance scenarios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5196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8072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45720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Intents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EN + 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269748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425196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8072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256032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Themes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&amp; light modes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69748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425196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8072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55+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466344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Per-course resources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0" y="2697480"/>
            <a:ext cx="1920240" cy="1600200"/>
          </a:xfrm>
          <a:prstGeom prst="rect">
            <a:avLst/>
          </a:prstGeom>
          <a:solidFill>
            <a:srgbClr val="141929"/>
          </a:solidFill>
          <a:ln w="12700">
            <a:solidFill>
              <a:srgbClr val="14192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4251960"/>
            <a:ext cx="1920240" cy="457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280720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676656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Platform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66560" y="3840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portal for all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D4A830">
              <a:alpha val="15000"/>
            </a:srgbClr>
          </a:solidFill>
          <a:ln w="12700">
            <a:solidFill>
              <a:srgbClr val="D4A830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931920"/>
            <a:ext cx="1645920" cy="1645920"/>
          </a:xfrm>
          <a:prstGeom prst="ellipse">
            <a:avLst/>
          </a:prstGeom>
          <a:solidFill>
            <a:srgbClr val="D4A830">
              <a:alpha val="12000"/>
            </a:srgbClr>
          </a:solidFill>
          <a:ln w="12700">
            <a:solidFill>
              <a:srgbClr val="D4A830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2560320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601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8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685800" y="2331720"/>
            <a:ext cx="3474720" cy="36576"/>
          </a:xfrm>
          <a:prstGeom prst="rect">
            <a:avLst/>
          </a:prstGeom>
          <a:solidFill>
            <a:srgbClr val="D4A830"/>
          </a:solidFill>
          <a:ln w="12700">
            <a:solidFill>
              <a:srgbClr val="D4A8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8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UniVision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Academic Journey.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3375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uni-vision-azure.vercel.app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754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Egyptian E-Learning University (EELU)  •  Graduation Project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2026-05-16T20:38:40Z</dcterms:created>
  <dcterms:modified xsi:type="dcterms:W3CDTF">2026-05-16T20:38:40Z</dcterms:modified>
</cp:coreProperties>
</file>